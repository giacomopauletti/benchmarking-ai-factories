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E5C1DD-A0E1-4C28-BA68-C8382267C9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F80ECD-7640-45F1-BA14-7201074D82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3F3DB9-2C8C-4C75-8893-5757C9BDC5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7DF393-6E9E-42FB-BD3C-7F67EC2D27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30996FD-E403-49F1-9F99-A2295EBFCE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22AD1A7-280A-45AF-BC43-FDF0C843D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6DF5738-82D4-4487-A7D0-50235CCF03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2D8A8BD-7C8F-41B0-AE53-65DC096520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53A30B2-16A7-42F1-86D7-6DCCF55877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84FC2F0-57FC-41FD-943F-B3D1C54B9F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B2E82B2-1EB8-4B3C-97AC-6DCB68BE6C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FA58465-6D3C-496B-9E1B-174C590C62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C26DF84-B9ED-4219-925A-F60E29D84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AA2CA3F4-5DB2-493A-8431-64E7F7A188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9358BA8-B05B-4AFB-94E9-B2E809C6E4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C20223F5-3367-441E-81B4-0DB700EE8B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A76D719-BFBD-4D91-96B4-DA8ADDDB8A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83E904BB-72B2-4A65-B313-E1D81C55EA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D28C58A-BA97-498D-8BF0-F5A8FAB261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28D6D7AE-90E2-4DCB-8E45-DF27824DD4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60F6E17E-1F81-49A3-A312-1A172F821B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FC64A4FE-C39C-4DED-8E59-9A7583B2E2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A210A5B6-B7C6-4269-BD12-E4A350652B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A701078F-9849-4607-817A-B34EA60762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49183F-AB6E-4E1C-A1CB-90D40C17BBB7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FCEBE1-B2D2-4CC6-A0C6-2B182DD25C32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9B503-2F97-4B4D-B03A-DF651074A211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10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1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CB0D2C-29BE-4129-81B5-A5E17BBB81DF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2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3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4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6E382C-A5D3-4EE3-9AFD-12E487E22F65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5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6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7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8A58B3-92A3-4E12-949E-DEE5F112F42C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dt" idx="18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19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0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4ECD71-1220-44EE-8FE8-2EE318A53929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 idx="21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2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3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7D50B-80A1-48F8-A837-042613B2FC03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4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5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6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91E63F-1DA8-4E2F-AD1C-2E4AB877B501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7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28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9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1BECD1-C644-419E-B9DD-79ABEAE34B41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0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1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2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4D8131-3871-4077-95F3-5456071AF857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dt" idx="33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34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35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AA487C-D311-4711-B973-F8F17A2F6E37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dt" idx="36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37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38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AC3211-EB2B-41D7-86F2-E5841051B671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dt" idx="39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40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41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36B2DF-E139-4C93-827C-593254648CDC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42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ftr" idx="43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sldNum" idx="44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2BBAA0-B0CF-4127-AFF1-7800CAA06ED9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8"/>
          <p:cNvSpPr>
            <a:spLocks noGrp="1"/>
          </p:cNvSpPr>
          <p:nvPr>
            <p:ph type="dt" idx="45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ftr" idx="46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47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E09C11-A267-45F6-B3C8-9E33F002929B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48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ftr" idx="49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50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205FCB-5EE7-4B59-AE5F-276B3F634DCC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51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52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53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D083B9-A531-414E-84E1-221E89AE604A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dt" idx="54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ftr" idx="55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56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FD29C7-2886-4110-85CE-8146B733771F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dt" idx="57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58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59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89DE74-A886-40EF-9EAC-13102E744C12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dt" idx="60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ftr" idx="61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2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EAA57D-F035-45B3-89B0-A12FA3AAF620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63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ftr" idx="64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65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8DF2A0-927D-4DCF-9903-C952450BC2BF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66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67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68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BD699D-2F49-4663-8F31-DE21A14E4C63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dt" idx="69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ftr" idx="70"/>
          </p:nvPr>
        </p:nvSpPr>
        <p:spPr>
          <a:xfrm>
            <a:off x="3126600" y="4685760"/>
            <a:ext cx="289656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 type="sldNum" idx="71"/>
          </p:nvPr>
        </p:nvSpPr>
        <p:spPr>
          <a:xfrm>
            <a:off x="655560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5FF237-BD91-4F84-9862-B8CB996E8980}" type="slidenum">
              <a:rPr b="0" lang="it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 type="dt" idx="72"/>
          </p:nvPr>
        </p:nvSpPr>
        <p:spPr>
          <a:xfrm>
            <a:off x="456840" y="4685760"/>
            <a:ext cx="2128680" cy="3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video" Target="file:///home/jan/Videos/final_demo.mp4" TargetMode="External"/><Relationship Id="rId3" Type="http://schemas.microsoft.com/office/2007/relationships/media" Target="file:///home/jan/Videos/final_demo.mp4" TargetMode="External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janmarxen.github.io/Benchmarking-AI-Factories/architecture/overview/" TargetMode="External"/><Relationship Id="rId2" Type="http://schemas.openxmlformats.org/officeDocument/2006/relationships/hyperlink" Target="https://github.com/janmarxen/Benchmarking-AI-Factories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22080" y="186624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4000" spc="-1" strike="noStrike">
                <a:solidFill>
                  <a:srgbClr val="00003f"/>
                </a:solidFill>
                <a:latin typeface="Cantarell"/>
                <a:ea typeface="Cantarell"/>
              </a:rPr>
              <a:t>AI Factory Benchmarking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145;p26"/>
          <p:cNvSpPr/>
          <p:nvPr/>
        </p:nvSpPr>
        <p:spPr>
          <a:xfrm>
            <a:off x="2073240" y="2639880"/>
            <a:ext cx="4975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Jan Marxen, Xavier L'Heureux, Vittorio Cozzoli, Giacomo Pauletti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oogle Shape;146;p26" descr=""/>
          <p:cNvPicPr/>
          <p:nvPr/>
        </p:nvPicPr>
        <p:blipFill>
          <a:blip r:embed="rId1"/>
          <a:stretch/>
        </p:blipFill>
        <p:spPr>
          <a:xfrm>
            <a:off x="693288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189" name="Google Shape;147;p26"/>
          <p:cNvSpPr/>
          <p:nvPr/>
        </p:nvSpPr>
        <p:spPr>
          <a:xfrm>
            <a:off x="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148;p26"/>
          <p:cNvSpPr/>
          <p:nvPr/>
        </p:nvSpPr>
        <p:spPr>
          <a:xfrm>
            <a:off x="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16806C33-CDC7-4C80-9749-CC0D7C958F11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53;p27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B48E1BCB-7DC3-4256-8848-BB908A029D59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Our vision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155;p27"/>
          <p:cNvSpPr/>
          <p:nvPr/>
        </p:nvSpPr>
        <p:spPr>
          <a:xfrm>
            <a:off x="622080" y="1451880"/>
            <a:ext cx="7878240" cy="24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marL="190440" indent="-18432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“</a:t>
            </a: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Implement a </a:t>
            </a:r>
            <a:r>
              <a:rPr b="1" lang="it" sz="1600" spc="-1" strike="noStrike">
                <a:solidFill>
                  <a:srgbClr val="12f0b9"/>
                </a:solidFill>
                <a:latin typeface="Arial"/>
                <a:ea typeface="Arial"/>
              </a:rPr>
              <a:t>scalable </a:t>
            </a: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framework for AI Factory Benchmarking, easy to extend with other services, supporting multiple benchmarks at the same time.”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Support reals scenarios: Prompting multiple load-balanced services.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Google Shape;156;p27" descr=""/>
          <p:cNvPicPr/>
          <p:nvPr/>
        </p:nvPicPr>
        <p:blipFill>
          <a:blip r:embed="rId1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195" name="Google Shape;157;p27"/>
          <p:cNvSpPr/>
          <p:nvPr/>
        </p:nvSpPr>
        <p:spPr>
          <a:xfrm>
            <a:off x="36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Architecture overview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Google Shape;163;p28" descr=""/>
          <p:cNvPicPr/>
          <p:nvPr/>
        </p:nvPicPr>
        <p:blipFill>
          <a:blip r:embed="rId1"/>
          <a:stretch/>
        </p:blipFill>
        <p:spPr>
          <a:xfrm>
            <a:off x="4277520" y="829440"/>
            <a:ext cx="4355280" cy="367128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164;p28" descr=""/>
          <p:cNvPicPr/>
          <p:nvPr/>
        </p:nvPicPr>
        <p:blipFill>
          <a:blip r:embed="rId2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199" name="Google Shape;165;p28"/>
          <p:cNvSpPr/>
          <p:nvPr/>
        </p:nvSpPr>
        <p:spPr>
          <a:xfrm>
            <a:off x="36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166;p28"/>
          <p:cNvSpPr/>
          <p:nvPr/>
        </p:nvSpPr>
        <p:spPr>
          <a:xfrm>
            <a:off x="720" y="486828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A018689C-BEFC-4CC8-AAC5-8CA4762DBBDD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167;p28"/>
          <p:cNvSpPr/>
          <p:nvPr/>
        </p:nvSpPr>
        <p:spPr>
          <a:xfrm>
            <a:off x="567360" y="1323720"/>
            <a:ext cx="3317760" cy="21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35000"/>
              <a:buFont typeface="Noto Sans Symbols"/>
              <a:buChar char="●"/>
            </a:pPr>
            <a:r>
              <a:rPr b="1" lang="it" sz="1600" spc="-1" strike="noStrike">
                <a:solidFill>
                  <a:srgbClr val="12f0b9"/>
                </a:solidFill>
                <a:latin typeface="Arial"/>
                <a:ea typeface="Arial"/>
              </a:rPr>
              <a:t>Microservice </a:t>
            </a: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architecture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3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On Meluxina: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ServiceOrchestrator,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Services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Clients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3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On local machine: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Logs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Monitoring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Grafana UI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92;p31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3EF55F46-05A8-43CC-BAD3-942FC3588A03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Services and Clients Workflow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Google Shape;194;p31" descr=""/>
          <p:cNvPicPr/>
          <p:nvPr/>
        </p:nvPicPr>
        <p:blipFill>
          <a:blip r:embed="rId1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195;p31"/>
          <p:cNvSpPr/>
          <p:nvPr/>
        </p:nvSpPr>
        <p:spPr>
          <a:xfrm>
            <a:off x="36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197;p31"/>
          <p:cNvSpPr/>
          <p:nvPr/>
        </p:nvSpPr>
        <p:spPr>
          <a:xfrm>
            <a:off x="89640" y="848880"/>
            <a:ext cx="250920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45000"/>
              <a:buFont typeface="Noto Sans Symbols"/>
              <a:buChar char="●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Load balancing (e.g. Round-Robin, Current Stress)</a:t>
            </a:r>
            <a:br>
              <a:rPr sz="1600"/>
            </a:br>
            <a:r>
              <a:rPr b="0" lang="it" sz="1600" spc="-1" strike="noStrike">
                <a:solidFill>
                  <a:srgbClr val="00003f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ClientGroup: generate the load for service</a:t>
            </a:r>
            <a:br>
              <a:rPr sz="1600"/>
            </a:br>
            <a:r>
              <a:rPr b="0" lang="it" sz="1600" spc="-1" strike="noStrike">
                <a:solidFill>
                  <a:srgbClr val="00003f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Created by user/UI with YAML</a:t>
            </a:r>
            <a:br>
              <a:rPr sz="1600"/>
            </a:br>
            <a:r>
              <a:rPr b="0" lang="it" sz="1600" spc="-1" strike="noStrike">
                <a:solidFill>
                  <a:srgbClr val="00003f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Example: Requests/min, Prompts, Duration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2598840" y="1287000"/>
            <a:ext cx="6580440" cy="275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12;p33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472B1F98-998B-4A5D-835C-CA5A9DA1DBFA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Recipe Ingestion System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Google Shape;214;p 2" descr=""/>
          <p:cNvPicPr/>
          <p:nvPr/>
        </p:nvPicPr>
        <p:blipFill>
          <a:blip r:embed="rId1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211" name="Google Shape;215;p 2"/>
          <p:cNvSpPr/>
          <p:nvPr/>
        </p:nvSpPr>
        <p:spPr>
          <a:xfrm>
            <a:off x="360" y="4867920"/>
            <a:ext cx="476784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Google Shape;216;p 2" descr=""/>
          <p:cNvPicPr/>
          <p:nvPr/>
        </p:nvPicPr>
        <p:blipFill>
          <a:blip r:embed="rId2"/>
          <a:stretch/>
        </p:blipFill>
        <p:spPr>
          <a:xfrm>
            <a:off x="5017680" y="1352160"/>
            <a:ext cx="4124880" cy="2877120"/>
          </a:xfrm>
          <a:prstGeom prst="rect">
            <a:avLst/>
          </a:prstGeom>
          <a:ln w="0">
            <a:noFill/>
          </a:ln>
        </p:spPr>
      </p:pic>
      <p:sp>
        <p:nvSpPr>
          <p:cNvPr id="213" name="Google Shape;217;p 2"/>
          <p:cNvSpPr/>
          <p:nvPr/>
        </p:nvSpPr>
        <p:spPr>
          <a:xfrm>
            <a:off x="218880" y="932760"/>
            <a:ext cx="4798080" cy="1863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Recipe Ingestion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Recipes are YAML files in </a:t>
            </a:r>
            <a:r>
              <a:rPr b="0" lang="it" sz="1600" spc="-1" strike="noStrike">
                <a:solidFill>
                  <a:srgbClr val="12f0b9"/>
                </a:solidFill>
                <a:latin typeface="Roboto Mono"/>
                <a:ea typeface="Roboto Mono"/>
              </a:rPr>
              <a:t>recipes/{category}/</a:t>
            </a:r>
            <a:r>
              <a:rPr b="0" lang="it" sz="1600" spc="-1" strike="noStrike">
                <a:solidFill>
                  <a:srgbClr val="12f0b9"/>
                </a:solidFill>
                <a:latin typeface="Arial"/>
                <a:ea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RecipeLoader parses all .yaml files at startup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Each recipe defines: name, resources, environment, and parameters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Users select recipes via API to deploy services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218;p 2"/>
          <p:cNvSpPr/>
          <p:nvPr/>
        </p:nvSpPr>
        <p:spPr>
          <a:xfrm>
            <a:off x="4993200" y="918360"/>
            <a:ext cx="412488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150" spc="-1" strike="noStrike">
                <a:solidFill>
                  <a:srgbClr val="00003f"/>
                </a:solidFill>
                <a:highlight>
                  <a:srgbClr val="f5f5f5"/>
                </a:highlight>
                <a:latin typeface="Arial"/>
                <a:ea typeface="Arial"/>
              </a:rPr>
              <a:t>Example</a:t>
            </a:r>
            <a:r>
              <a:rPr b="0" lang="it" sz="1150" spc="-1" strike="noStrike">
                <a:solidFill>
                  <a:srgbClr val="00003f"/>
                </a:solidFill>
                <a:highlight>
                  <a:srgbClr val="f5f5f5"/>
                </a:highlight>
                <a:latin typeface="Arial"/>
                <a:ea typeface="Arial"/>
              </a:rPr>
              <a:t>: </a:t>
            </a:r>
            <a:r>
              <a:rPr b="0" lang="it" sz="1050" spc="-1" strike="noStrike">
                <a:solidFill>
                  <a:srgbClr val="12f0b9"/>
                </a:solidFill>
                <a:highlight>
                  <a:srgbClr val="f5f5f5"/>
                </a:highlight>
                <a:latin typeface="Roboto Mono"/>
                <a:ea typeface="Roboto Mono"/>
              </a:rPr>
              <a:t>inference/vllm-single-node</a:t>
            </a:r>
            <a:r>
              <a:rPr b="0" lang="it" sz="1150" spc="-1" strike="noStrike">
                <a:solidFill>
                  <a:srgbClr val="00003f"/>
                </a:solidFill>
                <a:highlight>
                  <a:srgbClr val="f5f5f5"/>
                </a:highlight>
                <a:latin typeface="Arial"/>
                <a:ea typeface="Arial"/>
              </a:rPr>
              <a:t> deploys a vLLM server with 4 GPUs, 64GB RAM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Google Shape;219;p 2" descr=""/>
          <p:cNvPicPr/>
          <p:nvPr/>
        </p:nvPicPr>
        <p:blipFill>
          <a:blip r:embed="rId3"/>
          <a:stretch/>
        </p:blipFill>
        <p:spPr>
          <a:xfrm>
            <a:off x="176760" y="2830680"/>
            <a:ext cx="4723200" cy="151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24;p34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066CC308-9224-4ECE-A3E3-2D142C48BFD8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Monitoring &amp; Logs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Google Shape;226;p34" descr=""/>
          <p:cNvPicPr/>
          <p:nvPr/>
        </p:nvPicPr>
        <p:blipFill>
          <a:blip r:embed="rId1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219" name="Google Shape;227;p34"/>
          <p:cNvSpPr/>
          <p:nvPr/>
        </p:nvSpPr>
        <p:spPr>
          <a:xfrm>
            <a:off x="36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228;p34"/>
          <p:cNvSpPr/>
          <p:nvPr/>
        </p:nvSpPr>
        <p:spPr>
          <a:xfrm>
            <a:off x="147600" y="838080"/>
            <a:ext cx="4656240" cy="2143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Overview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Monitoring collects metrics periodically via Prometheus exporters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Logs service categorizes by filename patterns (loadgen-*, vllm-*, etc.)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61616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All accessible through Grafana dashboard or REST APIs (ports 8004, 8005)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229;p34"/>
          <p:cNvSpPr/>
          <p:nvPr/>
        </p:nvSpPr>
        <p:spPr>
          <a:xfrm>
            <a:off x="147600" y="2844720"/>
            <a:ext cx="4656240" cy="1863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Tech Stack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" sz="1600" spc="-1" strike="noStrike">
                <a:solidFill>
                  <a:srgbClr val="12f0b9"/>
                </a:solidFill>
                <a:latin typeface="Arial"/>
                <a:ea typeface="Arial"/>
              </a:rPr>
              <a:t>Prometheus + Grafana</a:t>
            </a: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: Real-time metrics visualization (utilization, power, temperature, etc)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" sz="1600" spc="-1" strike="noStrike">
                <a:solidFill>
                  <a:srgbClr val="12f0b9"/>
                </a:solidFill>
                <a:latin typeface="Arial"/>
                <a:ea typeface="Arial"/>
              </a:rPr>
              <a:t>Automatic Log Sync</a:t>
            </a:r>
            <a:r>
              <a:rPr b="0" lang="it" sz="1600" spc="-1" strike="noStrike">
                <a:solidFill>
                  <a:srgbClr val="00003f"/>
                </a:solidFill>
                <a:latin typeface="Arial"/>
                <a:ea typeface="Arial"/>
              </a:rPr>
              <a:t>: Rsync pulls SLURM logs (*.out, *.err) from MeluXina periodically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Google Shape;230;p34" descr=""/>
          <p:cNvPicPr/>
          <p:nvPr/>
        </p:nvPicPr>
        <p:blipFill>
          <a:blip r:embed="rId2"/>
          <a:stretch/>
        </p:blipFill>
        <p:spPr>
          <a:xfrm>
            <a:off x="4695840" y="602280"/>
            <a:ext cx="4436280" cy="443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35;p35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AC9956B7-655B-48ED-976D-1489E42D67A7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Web UI Demo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Google Shape;237;p35" descr=""/>
          <p:cNvPicPr/>
          <p:nvPr/>
        </p:nvPicPr>
        <p:blipFill>
          <a:blip r:embed="rId1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238;p35"/>
          <p:cNvSpPr/>
          <p:nvPr/>
        </p:nvSpPr>
        <p:spPr>
          <a:xfrm>
            <a:off x="360" y="4867920"/>
            <a:ext cx="476784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" descr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" y="723960"/>
            <a:ext cx="6652080" cy="373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43;p36"/>
          <p:cNvSpPr/>
          <p:nvPr/>
        </p:nvSpPr>
        <p:spPr>
          <a:xfrm>
            <a:off x="360" y="4867920"/>
            <a:ext cx="9141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D3423EC1-8F32-43EC-94E4-22A5E368199E}" type="slidenum">
              <a:rPr b="0" lang="it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56840" y="74160"/>
            <a:ext cx="82274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" sz="2900" spc="-1" strike="noStrike">
                <a:solidFill>
                  <a:srgbClr val="00003f"/>
                </a:solidFill>
                <a:latin typeface="Cantarell"/>
                <a:ea typeface="Cantarell"/>
              </a:rPr>
              <a:t>Resources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245;p36"/>
          <p:cNvSpPr/>
          <p:nvPr/>
        </p:nvSpPr>
        <p:spPr>
          <a:xfrm>
            <a:off x="622440" y="2281680"/>
            <a:ext cx="787824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 marL="190440" indent="-184320">
              <a:lnSpc>
                <a:spcPct val="100000"/>
              </a:lnSpc>
              <a:buClr>
                <a:srgbClr val="000000"/>
              </a:buClr>
              <a:buSzPct val="50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00"/>
                </a:solidFill>
                <a:latin typeface="Arial"/>
                <a:ea typeface="Arial"/>
              </a:rPr>
              <a:t>Documentation (GitHub pages): </a:t>
            </a:r>
            <a:r>
              <a:rPr b="0" lang="it" sz="16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1"/>
              </a:rPr>
              <a:t>link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90440" indent="-1843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50000"/>
              <a:buFont typeface="Noto Sans Symbols"/>
              <a:buChar char="●"/>
            </a:pPr>
            <a:r>
              <a:rPr b="0" lang="it" sz="1600" spc="-1" strike="noStrike">
                <a:solidFill>
                  <a:srgbClr val="000000"/>
                </a:solidFill>
                <a:latin typeface="Arial"/>
                <a:ea typeface="Arial"/>
              </a:rPr>
              <a:t>GitHub repository: </a:t>
            </a:r>
            <a:r>
              <a:rPr b="0" lang="it" sz="16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link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Google Shape;246;p36" descr=""/>
          <p:cNvPicPr/>
          <p:nvPr/>
        </p:nvPicPr>
        <p:blipFill>
          <a:blip r:embed="rId3"/>
          <a:stretch/>
        </p:blipFill>
        <p:spPr>
          <a:xfrm>
            <a:off x="6933240" y="4660560"/>
            <a:ext cx="2156760" cy="451800"/>
          </a:xfrm>
          <a:prstGeom prst="rect">
            <a:avLst/>
          </a:prstGeom>
          <a:ln w="0">
            <a:noFill/>
          </a:ln>
        </p:spPr>
      </p:pic>
      <p:sp>
        <p:nvSpPr>
          <p:cNvPr id="232" name="Google Shape;247;p36"/>
          <p:cNvSpPr/>
          <p:nvPr/>
        </p:nvSpPr>
        <p:spPr>
          <a:xfrm>
            <a:off x="360" y="4867920"/>
            <a:ext cx="4767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1720" rIns="81720" tIns="40680" bIns="4068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it" sz="1300" spc="-1" strike="noStrike">
                <a:solidFill>
                  <a:srgbClr val="666666"/>
                </a:solidFill>
                <a:latin typeface="Arial"/>
                <a:ea typeface="Arial"/>
              </a:rPr>
              <a:t>12/01/2025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2026-01-11T16:47:50Z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